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438912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0" cy="507492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774400" y="0"/>
            <a:ext cx="9144000" cy="5074920"/>
          </a:xfrm>
          <a:prstGeom prst="rect">
            <a:avLst/>
          </a:prstGeom>
          <a:solidFill>
            <a:srgbClr val="4F46E5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0" y="-1097280"/>
            <a:ext cx="6583680" cy="6583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900880" y="1097280"/>
            <a:ext cx="4114800" cy="411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3566160"/>
            <a:ext cx="2560320" cy="256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438912"/>
            <a:ext cx="379476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bstu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854" y="630936"/>
            <a:ext cx="3089314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80" y="530352"/>
            <a:ext cx="25968960" cy="1389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SMART OMR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874519"/>
            <a:ext cx="259689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An End-to-End Computer-Vision + Item-Response-Theory Pipeline</a:t>
            </a:r>
            <a:br/>
            <a:r>
              <a:t>for Automated MCQ Grading and Ability Estimation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246120"/>
            <a:ext cx="2596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900" b="0">
                <a:solidFill>
                  <a:srgbClr val="FFFFFF"/>
                </a:solidFill>
                <a:latin typeface="Aptos"/>
              </a:defRPr>
            </a:pPr>
            <a:r>
              <a:t>Md. Shishir Kaysar Shuvon   ·   Supervisor: Professor Dr. Ziaur Rahman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114800"/>
            <a:ext cx="41148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ptos"/>
              </a:defRPr>
            </a:pPr>
            <a:r>
              <a:t>COMPUTER VISION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18520" y="411480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18520" y="41148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Aptos"/>
              </a:defRPr>
            </a:pPr>
            <a:r>
              <a:t>IRT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538960" y="411480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538960" y="41148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059400" y="4114800"/>
            <a:ext cx="41148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059400" y="411480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94240" y="411480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94240" y="41148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F97316"/>
                </a:solidFill>
                <a:latin typeface="Aptos"/>
              </a:defRPr>
            </a:pPr>
            <a:r>
              <a:t>NEXT.JS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394960"/>
            <a:ext cx="1522475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25880" y="5705856"/>
            <a:ext cx="146304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5650992"/>
            <a:ext cx="1412747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01  ABSTRACT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6492240"/>
            <a:ext cx="14218919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ptos"/>
              </a:defRPr>
            </a:pPr>
            <a:r>
              <a:t>Smart OMR is an intelligent, automated Optical Mark Recognition examination system that scans a photographed answer sheet, detects filled bubbles using classical computer vision, grades responses instantly, and reports both a raw score and an Item Response Theory (IRT)-weighted ability score. The full-stack implementation separates the web interface, secure API, and image-analysis service for modular deployment.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779240" y="5394960"/>
            <a:ext cx="1522475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7190720" y="5705856"/>
            <a:ext cx="146304" cy="65836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465040" y="5650992"/>
            <a:ext cx="1412747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02  OBJECTIVES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373600" y="6537960"/>
            <a:ext cx="621792" cy="566928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0" y="6537960"/>
            <a:ext cx="6217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96560" y="6519672"/>
            <a:ext cx="1316735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Aptos"/>
              </a:rPr>
              <a:t>AUTOMATE  </a:t>
            </a:r>
            <a:r>
              <a:rPr sz="1400" b="0">
                <a:solidFill>
                  <a:srgbClr val="475569"/>
                </a:solidFill>
                <a:latin typeface="Aptos"/>
              </a:rPr>
              <a:t>Convert uploaded OMR images into detected A–D responses.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373600" y="7379208"/>
            <a:ext cx="621792" cy="566928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73600" y="7379208"/>
            <a:ext cx="6217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0" y="7360920"/>
            <a:ext cx="1316735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Aptos"/>
              </a:rPr>
              <a:t>ASSESS  </a:t>
            </a:r>
            <a:r>
              <a:rPr sz="1400" b="0">
                <a:solidFill>
                  <a:srgbClr val="475569"/>
                </a:solidFill>
                <a:latin typeface="Aptos"/>
              </a:rPr>
              <a:t>Go beyond raw marks using question difficulty and IRT ability.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7373600" y="8220456"/>
            <a:ext cx="621792" cy="566928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373600" y="8220456"/>
            <a:ext cx="6217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196560" y="8202168"/>
            <a:ext cx="1316735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Aptos"/>
              </a:rPr>
              <a:t>COMPARE  </a:t>
            </a:r>
            <a:r>
              <a:rPr sz="1400" b="0">
                <a:solidFill>
                  <a:srgbClr val="475569"/>
                </a:solidFill>
                <a:latin typeface="Aptos"/>
              </a:rPr>
              <a:t>Evaluate pure IRT against Random Forest and Gradient Boosting.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9646920"/>
            <a:ext cx="15224759" cy="822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5880" y="9976104"/>
            <a:ext cx="146304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00200" y="9921240"/>
            <a:ext cx="1412747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03  SYSTEM ARCHITECTURE</a:t>
            </a:r>
          </a:p>
        </p:txBody>
      </p:sp>
      <p:pic>
        <p:nvPicPr>
          <p:cNvPr id="42" name="Picture 41" descr="architecture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776" y="10835640"/>
            <a:ext cx="10600006" cy="6263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508760" y="17145000"/>
            <a:ext cx="14036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Browser → Spring Boot → FastAPI/OpenCV → IRT-weighted result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779240" y="9646920"/>
            <a:ext cx="15224759" cy="822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7190720" y="9976104"/>
            <a:ext cx="146304" cy="65836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465040" y="9921240"/>
            <a:ext cx="1412747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04  LIVE SCANNER OUTPUT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282160" y="10835640"/>
            <a:ext cx="14218919" cy="6263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canner_digit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7785" y="10927080"/>
            <a:ext cx="8387669" cy="5989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7373600" y="17145000"/>
            <a:ext cx="14036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4F46E5"/>
                </a:solidFill>
                <a:latin typeface="Aptos"/>
              </a:defRPr>
            </a:pPr>
            <a:r>
              <a:t>Live Science scan · science.jpeg · 10 MCQs · IRT ability · digital answers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18150840"/>
            <a:ext cx="15224759" cy="6080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325880" y="18480024"/>
            <a:ext cx="146304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00200" y="18425160"/>
            <a:ext cx="1412747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05  COMPUTER-VISION PIPELINE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63040" y="19431000"/>
            <a:ext cx="4315968" cy="10972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45920" y="19595592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3160" y="195955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Resize + gray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23160" y="200345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800 px width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19431000"/>
            <a:ext cx="4315968" cy="10972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19595592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78040" y="195955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Gaussian blur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78040" y="200345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5×5 kernel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972800" y="19431000"/>
            <a:ext cx="4315968" cy="10972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155680" y="19595592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932920" y="195955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INV threshold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932920" y="200345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150 / 255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463040" y="20848320"/>
            <a:ext cx="4315968" cy="10972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45920" y="21012912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23160" y="21012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Find contours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23160" y="2145182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bubble heuristics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0" y="20848320"/>
            <a:ext cx="4315968" cy="10972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21012912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78040" y="21012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Group rows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78040" y="2145182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Δy &lt; 30 px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972800" y="20848320"/>
            <a:ext cx="4315968" cy="10972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155680" y="21012912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932920" y="210129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Fill ratio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932920" y="2145182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&gt; 0.35 wins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463040" y="22448520"/>
            <a:ext cx="14127480" cy="109728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91640" y="22594824"/>
            <a:ext cx="13670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4F46E5"/>
                </a:solidFill>
                <a:latin typeface="Aptos"/>
              </a:defRPr>
            </a:pPr>
            <a:r>
              <a:t>IRT weighted ability = Σ (correctᵢ ? 1 + difficultyᵢ : 0)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6779240" y="18150840"/>
            <a:ext cx="15224759" cy="6080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7190720" y="18480024"/>
            <a:ext cx="146304" cy="65836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465040" y="18425160"/>
            <a:ext cx="1412747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06  IRT + ML EXPERIMENT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373600" y="19385280"/>
            <a:ext cx="14036039" cy="2834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525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Synthetic dataset: 500 students × 10 questions</a:t>
            </a:r>
          </a:p>
          <a:p>
            <a:pPr>
              <a:lnSpc>
                <a:spcPct val="115000"/>
              </a:lnSpc>
              <a:spcAft>
                <a:spcPts val="525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Responses generated with the 3-Parameter Logistic IRT model</a:t>
            </a:r>
          </a:p>
          <a:p>
            <a:pPr>
              <a:lnSpc>
                <a:spcPct val="115000"/>
              </a:lnSpc>
              <a:spcAft>
                <a:spcPts val="525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Pure IRT baseline: 2PL fitted by Marginal Maximum Likelihood</a:t>
            </a:r>
          </a:p>
          <a:p>
            <a:pPr>
              <a:lnSpc>
                <a:spcPct val="115000"/>
              </a:lnSpc>
              <a:spcAft>
                <a:spcPts val="525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Hybrid models: Random Forest and tuned Gradient Boosting</a:t>
            </a:r>
          </a:p>
          <a:p>
            <a:pPr>
              <a:lnSpc>
                <a:spcPct val="115000"/>
              </a:lnSpc>
              <a:spcAft>
                <a:spcPts val="525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Evaluation: RMSE against the known true latent ability θ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7465040" y="22997160"/>
            <a:ext cx="39319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7465040" y="22997160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Aptos"/>
              </a:defRPr>
            </a:pPr>
            <a:r>
              <a:t>IRT 2PL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1717000" y="22997160"/>
            <a:ext cx="46634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717000" y="22997160"/>
            <a:ext cx="46634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6700480" y="22997160"/>
            <a:ext cx="46634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700480" y="22997160"/>
            <a:ext cx="46634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Aptos"/>
              </a:defRPr>
            </a:pPr>
            <a:r>
              <a:t>Gradient Boosting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14400" y="24505920"/>
            <a:ext cx="15224759" cy="790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325880" y="24835104"/>
            <a:ext cx="146304" cy="65836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600200" y="24780240"/>
            <a:ext cx="1412747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07  QUANTITATIVE RESULTS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54480" y="25648920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801600" y="2564892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Aptos"/>
              </a:defRPr>
            </a:pPr>
            <a:r>
              <a:t>RMSE ↓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508760" y="26243280"/>
            <a:ext cx="14036039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737360" y="263347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Pure IRT 2PL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400800" y="26499312"/>
            <a:ext cx="5852160" cy="29260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400800" y="26499312"/>
            <a:ext cx="4291584" cy="292608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2847320" y="26289000"/>
            <a:ext cx="2560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4F46E5"/>
                </a:solidFill>
                <a:latin typeface="Aptos"/>
              </a:defRPr>
            </a:pPr>
            <a:r>
              <a:t>0.7900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508760" y="27340560"/>
            <a:ext cx="14036039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737360" y="2743200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Gradient Boosting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400800" y="27596592"/>
            <a:ext cx="5852160" cy="29260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6400800" y="27596592"/>
            <a:ext cx="3878031" cy="292608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847320" y="27386280"/>
            <a:ext cx="2560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Aptos"/>
              </a:defRPr>
            </a:pPr>
            <a:r>
              <a:t>0.8006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08760" y="28437839"/>
            <a:ext cx="14036039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737360" y="285292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400800" y="28693872"/>
            <a:ext cx="5852160" cy="29260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6400800" y="28693872"/>
            <a:ext cx="1771253" cy="292608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2847320" y="28483560"/>
            <a:ext cx="2560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  <a:latin typeface="Aptos"/>
              </a:defRPr>
            </a:pPr>
            <a:r>
              <a:t>0.8546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508760" y="29763719"/>
            <a:ext cx="14036039" cy="196596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828800" y="29946600"/>
            <a:ext cx="13395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Aptos"/>
              </a:defRPr>
            </a:pPr>
            <a:r>
              <a:t>KEY FINDING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828800" y="30495240"/>
            <a:ext cx="13395959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Pure IRT achieved the lowest RMSE. Hybrid ML did not outperform the mathematical baseline on this small synthetic dataset.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6779240" y="24505920"/>
            <a:ext cx="15224759" cy="790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7190720" y="24835104"/>
            <a:ext cx="146304" cy="65836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7465040" y="24780240"/>
            <a:ext cx="1412747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08  RESEARCH VISUALS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7282160" y="25694640"/>
            <a:ext cx="14218919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6" name="Picture 115" descr="ml_vs_ir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64666" y="25804368"/>
            <a:ext cx="4253906" cy="256032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17419320" y="28483560"/>
            <a:ext cx="139445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IRT vs hybrid model predictions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7282160" y="28940760"/>
            <a:ext cx="14218919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icc_plot_q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49490" y="29050488"/>
            <a:ext cx="4084259" cy="2560320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17419320" y="31711392"/>
            <a:ext cx="139445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Item Characteristic Curve (Q1)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14400" y="32689800"/>
            <a:ext cx="15224759" cy="5806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1325880" y="33018984"/>
            <a:ext cx="146304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600200" y="32964119"/>
            <a:ext cx="1412747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09  WEB DASHBOARD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417320" y="33832800"/>
            <a:ext cx="14218919" cy="4160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5" name="Picture 124" descr="dashboar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1465" y="33969960"/>
            <a:ext cx="6870629" cy="3886200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1554480" y="37975032"/>
            <a:ext cx="139445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Live dashboard: raw score, OMR count, IRT ability, and history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6779240" y="32689800"/>
            <a:ext cx="15224759" cy="5806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17190720" y="33018984"/>
            <a:ext cx="146304" cy="65836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7465040" y="32964119"/>
            <a:ext cx="1412747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10  LIMITATIONS &amp; FUTURE WORK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7419320" y="33924240"/>
            <a:ext cx="6720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373600" y="34427160"/>
            <a:ext cx="6812280" cy="3520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455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Synthetic research data; no real classroom validation yet</a:t>
            </a:r>
          </a:p>
          <a:p>
            <a:pPr>
              <a:lnSpc>
                <a:spcPct val="115000"/>
              </a:lnSpc>
              <a:spcAft>
                <a:spcPts val="455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Hard-coded answer key and question-difficulty vector</a:t>
            </a:r>
          </a:p>
          <a:p>
            <a:pPr>
              <a:lnSpc>
                <a:spcPct val="115000"/>
              </a:lnSpc>
              <a:spcAft>
                <a:spcPts val="455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Contour heuristics assume aligned rectangular sheets</a:t>
            </a:r>
          </a:p>
          <a:p>
            <a:pPr>
              <a:lnSpc>
                <a:spcPct val="115000"/>
              </a:lnSpc>
              <a:spcAft>
                <a:spcPts val="455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No skew/perspective correction or multi-page support</a:t>
            </a:r>
          </a:p>
          <a:p>
            <a:pPr>
              <a:lnSpc>
                <a:spcPct val="115000"/>
              </a:lnSpc>
              <a:spcAft>
                <a:spcPts val="455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History is stored in browser localStorage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4597360" y="33924240"/>
            <a:ext cx="6675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4551640" y="34427160"/>
            <a:ext cx="6812280" cy="3520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455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Deep-learning detector (YOLO/UNet)</a:t>
            </a:r>
          </a:p>
          <a:p>
            <a:pPr>
              <a:lnSpc>
                <a:spcPct val="115000"/>
              </a:lnSpc>
              <a:spcAft>
                <a:spcPts val="455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Real student dataset and IRT calibration</a:t>
            </a:r>
          </a:p>
          <a:p>
            <a:pPr>
              <a:lnSpc>
                <a:spcPct val="115000"/>
              </a:lnSpc>
              <a:spcAft>
                <a:spcPts val="455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Subject-specific answer keys and difficulty vectors</a:t>
            </a:r>
          </a:p>
          <a:p>
            <a:pPr>
              <a:lnSpc>
                <a:spcPct val="115000"/>
              </a:lnSpc>
              <a:spcAft>
                <a:spcPts val="455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QR student IDs and multi-page sheets</a:t>
            </a:r>
          </a:p>
          <a:p>
            <a:pPr>
              <a:lnSpc>
                <a:spcPct val="115000"/>
              </a:lnSpc>
              <a:spcAft>
                <a:spcPts val="455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Cloud persistence, PDF/CSV export, Docker deployment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14400" y="38770560"/>
            <a:ext cx="31089600" cy="237744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371600" y="39118032"/>
            <a:ext cx="30175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371600" y="39684960"/>
            <a:ext cx="301752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Smart OMR demonstrates a modular, end-to-end grading workflow that connects computer-vision bubble detection with psychometric ability estimation. The study’s most credible result is that pure IRT remains a strong baseline—even when compared with modern ensemble regressors.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14400" y="41422320"/>
            <a:ext cx="31089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325880" y="41623488"/>
            <a:ext cx="2468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ptos"/>
              </a:defRPr>
            </a:pPr>
            <a:r>
              <a:t>REFERENCES / IMPLEMENTATION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325880" y="42062400"/>
            <a:ext cx="24688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OpenCV contour analysis · FastAPI · Spring Boot · Next.js · girth twopl_mml · scikit-learn RandomForestRegressor &amp; GradientBoostingRegressor</a:t>
            </a:r>
            <a:br/>
            <a:r>
              <a:t>Source: https://github.com/shuv-on/smart-omr-scanner</a:t>
            </a:r>
          </a:p>
        </p:txBody>
      </p:sp>
      <p:pic>
        <p:nvPicPr>
          <p:cNvPr id="140" name="Picture 139" descr="q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86480" y="41577768"/>
            <a:ext cx="1143000" cy="114300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26609040" y="4180636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Aptos"/>
              </a:defRPr>
            </a:pPr>
            <a:r>
              <a:t>SCAN FOR</a:t>
            </a:r>
            <a:br/>
            <a:r>
              <a:t>SOURCE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0" y="43479720"/>
            <a:ext cx="32918400" cy="41148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4400" y="43479720"/>
            <a:ext cx="3108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SMART OMR · Computer Vision + Item Response Theory + Modern Web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